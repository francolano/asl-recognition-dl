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6858000" cy="9144000"/>
  <p:embeddedFontLst>
    <p:embeddedFont>
      <p:font typeface="Albert Sans" panose="020B0604020202020204" charset="0"/>
      <p:regular r:id="rId48"/>
      <p:bold r:id="rId49"/>
      <p:italic r:id="rId50"/>
      <p:boldItalic r:id="rId51"/>
    </p:embeddedFont>
    <p:embeddedFont>
      <p:font typeface="Alexandria Medium" panose="020B0604020202020204" charset="-78"/>
      <p:regular r:id="rId52"/>
      <p:bold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0DC184-62AF-4E9C-94C4-883083576297}">
  <a:tblStyle styleId="{490DC184-62AF-4E9C-94C4-8830835762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09559dd9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09559dd9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09559dd9c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409559dd9c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409559dd9c2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409559dd9c2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09559dd9c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09559dd9c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719cc9e54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719cc9e54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09559dd9c2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09559dd9c2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e827dc44ca_3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e827dc44ca_3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719cc9e54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719cc9e54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40956ba223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40956ba223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409593914d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409593914d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409593914d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409593914d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409593914d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409593914d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09593914d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409593914d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827dc44ca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827dc44ca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827dc44ca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e827dc44ca_3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827dc44ca_3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e827dc44ca_3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719cc9e5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719cc9e54_2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848a4b407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e848a4b407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848a4b40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848a4b40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848a4b407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848a4b407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827dc44ca_3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827dc44ca_3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827dc44ca_5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e827dc44ca_5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409593914de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409593914de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719cc9e54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719cc9e54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409559dd9c2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409559dd9c2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409593914de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409593914de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409593914de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409593914de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409559dd9c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409559dd9c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409559dd9c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409559dd9c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409559dd9c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409559dd9c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409593914de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409593914de_1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409593914de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409593914de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827dc44c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e827dc44c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719cc9e54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e719cc9e54_2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409559dd9c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409559dd9c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827dc44ca_5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827dc44ca_5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827dc44ca_5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e827dc44ca_5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719cc9e54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e719cc9e54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56ba223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40956ba223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40956ba223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40956ba223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572bee519d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572bee519d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l="174698" t="-83399" r="177064" b="41636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l="130684" t="-50528" r="175247" b="34586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7"/>
          <p:cNvSpPr>
            <a:spLocks noGrp="1"/>
          </p:cNvSpPr>
          <p:nvPr>
            <p:ph type="pic" idx="2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9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4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2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 l="7044" t="47434" r="-48487" b="-26995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715100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715100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>
            <a:spLocks noGrp="1"/>
          </p:cNvSpPr>
          <p:nvPr>
            <p:ph type="subTitle" idx="1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2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3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4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5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6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2"/>
          <p:cNvPicPr preferRelativeResize="0"/>
          <p:nvPr/>
        </p:nvPicPr>
        <p:blipFill rotWithShape="1">
          <a:blip r:embed="rId2">
            <a:alphaModFix/>
          </a:blip>
          <a:srcRect l="104756" t="-108210" r="280063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5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6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7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8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subTitle" idx="1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2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3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5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6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7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8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ubTitle" idx="9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ubTitle" idx="13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subTitle" idx="14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ubTitle" idx="15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l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>
            <a:spLocks noGrp="1"/>
          </p:cNvSpPr>
          <p:nvPr>
            <p:ph type="title" hasCustomPrompt="1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1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72" name="Google Shape;172;p24"/>
          <p:cNvSpPr txBox="1">
            <a:spLocks noGrp="1"/>
          </p:cNvSpPr>
          <p:nvPr>
            <p:ph type="subTitle" idx="3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5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8" name="Google Shape;178;p25"/>
          <p:cNvSpPr txBox="1">
            <a:spLocks noGrp="1"/>
          </p:cNvSpPr>
          <p:nvPr>
            <p:ph type="subTitle" idx="1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3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ubTitle" idx="4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5"/>
          <p:cNvSpPr txBox="1">
            <a:spLocks noGrp="1"/>
          </p:cNvSpPr>
          <p:nvPr>
            <p:ph type="subTitle" idx="5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 idx="6" hasCustomPrompt="1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8"/>
          <p:cNvPicPr preferRelativeResize="0"/>
          <p:nvPr/>
        </p:nvPicPr>
        <p:blipFill rotWithShape="1">
          <a:blip r:embed="rId2">
            <a:alphaModFix/>
          </a:blip>
          <a:srcRect l="-6644" t="-11183" r="27549" b="-111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2" name="Google Shape;202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ymIvai2A774Pf4V5B6d8QqrYcPQk8dfi/view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olano.github.io/ASL-Recognition-DL/" TargetMode="Externa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ctrTitle"/>
          </p:nvPr>
        </p:nvSpPr>
        <p:spPr>
          <a:xfrm>
            <a:off x="363600" y="1275875"/>
            <a:ext cx="8416800" cy="32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/>
              <a:t>ASL Fingerspelling</a:t>
            </a:r>
            <a:endParaRPr sz="7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/>
              <a:t>Recognition</a:t>
            </a:r>
            <a:endParaRPr sz="7100"/>
          </a:p>
        </p:txBody>
      </p:sp>
      <p:sp>
        <p:nvSpPr>
          <p:cNvPr id="216" name="Google Shape;216;p32"/>
          <p:cNvSpPr txBox="1">
            <a:spLocks noGrp="1"/>
          </p:cNvSpPr>
          <p:nvPr>
            <p:ph type="subTitle" idx="1"/>
          </p:nvPr>
        </p:nvSpPr>
        <p:spPr>
          <a:xfrm>
            <a:off x="2045400" y="4554625"/>
            <a:ext cx="50532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Group </a:t>
            </a:r>
            <a:r>
              <a:rPr lang="en" sz="1600" b="1"/>
              <a:t>Omicron </a:t>
            </a:r>
            <a:r>
              <a:rPr lang="en" sz="1600"/>
              <a:t>– Martí Ponsa and Franco Olano</a:t>
            </a:r>
            <a:endParaRPr sz="1600" b="1"/>
          </a:p>
        </p:txBody>
      </p:sp>
      <p:cxnSp>
        <p:nvCxnSpPr>
          <p:cNvPr id="217" name="Google Shape;217;p32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8" name="Google Shape;21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4474" y="433825"/>
            <a:ext cx="1705774" cy="5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1058576" y="13673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subTitle" idx="1"/>
          </p:nvPr>
        </p:nvSpPr>
        <p:spPr>
          <a:xfrm>
            <a:off x="1597001" y="136732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br>
              <a:rPr lang="en"/>
            </a:br>
            <a:endParaRPr/>
          </a:p>
        </p:txBody>
      </p:sp>
      <p:sp>
        <p:nvSpPr>
          <p:cNvPr id="225" name="Google Shape;225;p3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26" name="Google Shape;226;p33"/>
          <p:cNvSpPr txBox="1">
            <a:spLocks noGrp="1"/>
          </p:cNvSpPr>
          <p:nvPr>
            <p:ph type="title" idx="3"/>
          </p:nvPr>
        </p:nvSpPr>
        <p:spPr>
          <a:xfrm>
            <a:off x="1058576" y="210352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subTitle" idx="4"/>
          </p:nvPr>
        </p:nvSpPr>
        <p:spPr>
          <a:xfrm>
            <a:off x="1597001" y="210353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title" idx="5"/>
          </p:nvPr>
        </p:nvSpPr>
        <p:spPr>
          <a:xfrm>
            <a:off x="1058576" y="28397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type="subTitle" idx="6"/>
          </p:nvPr>
        </p:nvSpPr>
        <p:spPr>
          <a:xfrm>
            <a:off x="1597001" y="2839740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title" idx="7"/>
          </p:nvPr>
        </p:nvSpPr>
        <p:spPr>
          <a:xfrm>
            <a:off x="1058576" y="357595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8"/>
          </p:nvPr>
        </p:nvSpPr>
        <p:spPr>
          <a:xfrm>
            <a:off x="1597001" y="3575948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title" idx="9"/>
          </p:nvPr>
        </p:nvSpPr>
        <p:spPr>
          <a:xfrm>
            <a:off x="4796325" y="167840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3"/>
          </p:nvPr>
        </p:nvSpPr>
        <p:spPr>
          <a:xfrm>
            <a:off x="5334826" y="1678400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Discussion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title" idx="16"/>
          </p:nvPr>
        </p:nvSpPr>
        <p:spPr>
          <a:xfrm>
            <a:off x="4796325" y="2468903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subTitle" idx="17"/>
          </p:nvPr>
        </p:nvSpPr>
        <p:spPr>
          <a:xfrm>
            <a:off x="5334826" y="2468896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title" idx="18"/>
          </p:nvPr>
        </p:nvSpPr>
        <p:spPr>
          <a:xfrm>
            <a:off x="4796325" y="320510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ubTitle" idx="19"/>
          </p:nvPr>
        </p:nvSpPr>
        <p:spPr>
          <a:xfrm>
            <a:off x="5334826" y="3205091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application</a:t>
            </a:r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715050" y="29919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American Sign Language (ASL) Fingerspelling</a:t>
            </a:r>
            <a:endParaRPr/>
          </a:p>
        </p:txBody>
      </p:sp>
      <p:sp>
        <p:nvSpPr>
          <p:cNvPr id="251" name="Google Shape;251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3412" y="991600"/>
            <a:ext cx="3537176" cy="37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topic relevant?</a:t>
            </a:r>
            <a:endParaRPr/>
          </a:p>
        </p:txBody>
      </p:sp>
      <p:sp>
        <p:nvSpPr>
          <p:cNvPr id="258" name="Google Shape;258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subTitle" idx="1"/>
          </p:nvPr>
        </p:nvSpPr>
        <p:spPr>
          <a:xfrm>
            <a:off x="767900" y="2823624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key topic related to communication between deaf and hearing people.</a:t>
            </a:r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subTitle" idx="2"/>
          </p:nvPr>
        </p:nvSpPr>
        <p:spPr>
          <a:xfrm>
            <a:off x="715075" y="1891012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Accessibility and Communication</a:t>
            </a: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subTitle" idx="3"/>
          </p:nvPr>
        </p:nvSpPr>
        <p:spPr>
          <a:xfrm>
            <a:off x="3506113" y="2823611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Lighting variation, background noise and similar classes are all challenging factors that need to be addressed.</a:t>
            </a:r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4"/>
          </p:nvPr>
        </p:nvSpPr>
        <p:spPr>
          <a:xfrm>
            <a:off x="3506125" y="1769641"/>
            <a:ext cx="2131800" cy="1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Computer Vision Challenges</a:t>
            </a:r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subTitle" idx="5"/>
          </p:nvPr>
        </p:nvSpPr>
        <p:spPr>
          <a:xfrm>
            <a:off x="6244350" y="2851438"/>
            <a:ext cx="2312400" cy="12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any hand symbol as an specific symbol a person desires, extending the capability of a system to recognize hand gestures.</a:t>
            </a:r>
            <a:endParaRPr/>
          </a:p>
        </p:txBody>
      </p:sp>
      <p:sp>
        <p:nvSpPr>
          <p:cNvPr id="264" name="Google Shape;264;p36"/>
          <p:cNvSpPr txBox="1">
            <a:spLocks noGrp="1"/>
          </p:cNvSpPr>
          <p:nvPr>
            <p:ph type="subTitle" idx="6"/>
          </p:nvPr>
        </p:nvSpPr>
        <p:spPr>
          <a:xfrm>
            <a:off x="6297175" y="1760813"/>
            <a:ext cx="2259600" cy="1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Hand Expressions Recognizability</a:t>
            </a: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title" idx="4294967295"/>
          </p:nvPr>
        </p:nvSpPr>
        <p:spPr>
          <a:xfrm>
            <a:off x="397558" y="1921054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66" name="Google Shape;266;p36"/>
          <p:cNvSpPr txBox="1">
            <a:spLocks noGrp="1"/>
          </p:cNvSpPr>
          <p:nvPr>
            <p:ph type="title" idx="4294967295"/>
          </p:nvPr>
        </p:nvSpPr>
        <p:spPr>
          <a:xfrm>
            <a:off x="3137833" y="1921054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2.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67" name="Google Shape;267;p36"/>
          <p:cNvSpPr txBox="1">
            <a:spLocks noGrp="1"/>
          </p:cNvSpPr>
          <p:nvPr>
            <p:ph type="title" idx="4294967295"/>
          </p:nvPr>
        </p:nvSpPr>
        <p:spPr>
          <a:xfrm>
            <a:off x="5941117" y="1921054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3.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subTitle" idx="1"/>
          </p:nvPr>
        </p:nvSpPr>
        <p:spPr>
          <a:xfrm>
            <a:off x="2985775" y="2532230"/>
            <a:ext cx="2540400" cy="3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2"/>
                </a:solidFill>
              </a:rPr>
              <a:t>A small preview ;)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/>
          </p:nvPr>
        </p:nvSpPr>
        <p:spPr>
          <a:xfrm>
            <a:off x="715050" y="3179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come from Computer Engineering so….</a:t>
            </a:r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3"/>
          </p:nvPr>
        </p:nvSpPr>
        <p:spPr>
          <a:xfrm>
            <a:off x="715050" y="810542"/>
            <a:ext cx="77139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couldn’t resist building a working app on top of a model.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849888" y="1624425"/>
            <a:ext cx="1494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BUT FIRST… </a:t>
            </a:r>
            <a:endParaRPr sz="17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2393175" y="1634075"/>
            <a:ext cx="5922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We needed to train a model that fulfills the needs of the application.</a:t>
            </a:r>
            <a:endParaRPr sz="17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278" name="Google Shape;2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500" y="2893000"/>
            <a:ext cx="3079725" cy="20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>
            <a:spLocks noGrp="1"/>
          </p:cNvSpPr>
          <p:nvPr>
            <p:ph type="title"/>
          </p:nvPr>
        </p:nvSpPr>
        <p:spPr>
          <a:xfrm>
            <a:off x="0" y="2297400"/>
            <a:ext cx="914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Which models would work best?</a:t>
            </a:r>
            <a:endParaRPr sz="3600"/>
          </a:p>
        </p:txBody>
      </p:sp>
      <p:sp>
        <p:nvSpPr>
          <p:cNvPr id="284" name="Google Shape;284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little bit of history…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263530" y="2642250"/>
            <a:ext cx="1335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AlexNet (2012)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1301301" y="3281731"/>
            <a:ext cx="122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VGGNet (2014)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2400802" y="2642250"/>
            <a:ext cx="1452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GoogLeNet (2014)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3713851" y="3281731"/>
            <a:ext cx="1335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ResNet (2015)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4732250" y="2657500"/>
            <a:ext cx="1518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(2015)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6019800" y="3281725"/>
            <a:ext cx="1518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MobileNetV1 (2017)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7362275" y="2657500"/>
            <a:ext cx="15822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(2018)</a:t>
            </a:r>
            <a:endParaRPr sz="11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5" name="Google Shape;305;p40"/>
          <p:cNvSpPr/>
          <p:nvPr/>
        </p:nvSpPr>
        <p:spPr>
          <a:xfrm rot="2700000">
            <a:off x="1118473" y="3067740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6" name="Google Shape;306;p40"/>
          <p:cNvSpPr/>
          <p:nvPr/>
        </p:nvSpPr>
        <p:spPr>
          <a:xfrm rot="2700000">
            <a:off x="3570035" y="3067749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7" name="Google Shape;307;p40"/>
          <p:cNvSpPr/>
          <p:nvPr/>
        </p:nvSpPr>
        <p:spPr>
          <a:xfrm rot="2700000">
            <a:off x="5854537" y="3067749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8" name="Google Shape;308;p40"/>
          <p:cNvSpPr/>
          <p:nvPr/>
        </p:nvSpPr>
        <p:spPr>
          <a:xfrm rot="-2703207">
            <a:off x="2204277" y="3067602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09" name="Google Shape;309;p40"/>
          <p:cNvSpPr/>
          <p:nvPr/>
        </p:nvSpPr>
        <p:spPr>
          <a:xfrm rot="-2703207">
            <a:off x="4558320" y="3067696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0" name="Google Shape;310;p40"/>
          <p:cNvSpPr/>
          <p:nvPr/>
        </p:nvSpPr>
        <p:spPr>
          <a:xfrm rot="-2703207">
            <a:off x="7189561" y="3113672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715100" y="1267150"/>
            <a:ext cx="7841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Image classification is dominated by convolutional neural networks (CNNs), following the success of AlexNet.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2" name="Google Shape;312;p40"/>
          <p:cNvSpPr txBox="1"/>
          <p:nvPr/>
        </p:nvSpPr>
        <p:spPr>
          <a:xfrm>
            <a:off x="236387" y="2021283"/>
            <a:ext cx="13353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Start of modern deep learning era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(win ImageNet) 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1186700" y="3694975"/>
            <a:ext cx="14523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Very deep, simple architectures 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3390450" y="3694975"/>
            <a:ext cx="19821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Residual connections enable very deep networks 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2335850" y="2150688"/>
            <a:ext cx="1582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Multi-scale inception feature extraction 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4655075" y="2150688"/>
            <a:ext cx="1582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Optimized inception for accuracy 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7" name="Google Shape;317;p40"/>
          <p:cNvSpPr txBox="1"/>
          <p:nvPr/>
        </p:nvSpPr>
        <p:spPr>
          <a:xfrm>
            <a:off x="5873300" y="3695000"/>
            <a:ext cx="19821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Lightweight depthwise convolution network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7362275" y="2150688"/>
            <a:ext cx="1582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Efficient inverted residual design</a:t>
            </a:r>
            <a:endParaRPr sz="11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the Art</a:t>
            </a:r>
            <a:endParaRPr/>
          </a:p>
        </p:txBody>
      </p:sp>
      <p:sp>
        <p:nvSpPr>
          <p:cNvPr id="324" name="Google Shape;324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25" name="Google Shape;325;p41"/>
          <p:cNvSpPr txBox="1">
            <a:spLocks noGrp="1"/>
          </p:cNvSpPr>
          <p:nvPr>
            <p:ph type="subTitle" idx="3"/>
          </p:nvPr>
        </p:nvSpPr>
        <p:spPr>
          <a:xfrm>
            <a:off x="1524054" y="1521489"/>
            <a:ext cx="45372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CNN-Transformer Networks </a:t>
            </a:r>
            <a:endParaRPr/>
          </a:p>
        </p:txBody>
      </p:sp>
      <p:sp>
        <p:nvSpPr>
          <p:cNvPr id="326" name="Google Shape;326;p41"/>
          <p:cNvSpPr txBox="1">
            <a:spLocks noGrp="1"/>
          </p:cNvSpPr>
          <p:nvPr>
            <p:ph type="subTitle" idx="4"/>
          </p:nvPr>
        </p:nvSpPr>
        <p:spPr>
          <a:xfrm>
            <a:off x="1524054" y="2958605"/>
            <a:ext cx="77139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Multimodal RGB-D (Depth) Networks</a:t>
            </a:r>
            <a:endParaRPr/>
          </a:p>
        </p:txBody>
      </p:sp>
      <p:sp>
        <p:nvSpPr>
          <p:cNvPr id="327" name="Google Shape;327;p41"/>
          <p:cNvSpPr txBox="1">
            <a:spLocks noGrp="1"/>
          </p:cNvSpPr>
          <p:nvPr>
            <p:ph type="subTitle" idx="7"/>
          </p:nvPr>
        </p:nvSpPr>
        <p:spPr>
          <a:xfrm>
            <a:off x="1524054" y="2240051"/>
            <a:ext cx="6580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Spatiotemporal Keypoint &amp; Skeleton-Based Models </a:t>
            </a:r>
            <a:endParaRPr/>
          </a:p>
        </p:txBody>
      </p:sp>
      <p:sp>
        <p:nvSpPr>
          <p:cNvPr id="328" name="Google Shape;328;p41"/>
          <p:cNvSpPr txBox="1">
            <a:spLocks noGrp="1"/>
          </p:cNvSpPr>
          <p:nvPr>
            <p:ph type="subTitle" idx="8"/>
          </p:nvPr>
        </p:nvSpPr>
        <p:spPr>
          <a:xfrm>
            <a:off x="1524054" y="3677151"/>
            <a:ext cx="6447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Neuromorphic &amp; Spiking Neural Networks (SNNs) </a:t>
            </a:r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1154294" y="1677039"/>
            <a:ext cx="144900" cy="144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0" name="Google Shape;330;p41"/>
          <p:cNvSpPr/>
          <p:nvPr/>
        </p:nvSpPr>
        <p:spPr>
          <a:xfrm>
            <a:off x="1154294" y="2395589"/>
            <a:ext cx="144900" cy="144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1" name="Google Shape;331;p41"/>
          <p:cNvSpPr/>
          <p:nvPr/>
        </p:nvSpPr>
        <p:spPr>
          <a:xfrm>
            <a:off x="1154294" y="3114139"/>
            <a:ext cx="144900" cy="144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32" name="Google Shape;332;p41"/>
          <p:cNvSpPr/>
          <p:nvPr/>
        </p:nvSpPr>
        <p:spPr>
          <a:xfrm>
            <a:off x="1154294" y="3832689"/>
            <a:ext cx="144900" cy="144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>
            <a:spLocks noGrp="1"/>
          </p:cNvSpPr>
          <p:nvPr>
            <p:ph type="title"/>
          </p:nvPr>
        </p:nvSpPr>
        <p:spPr>
          <a:xfrm>
            <a:off x="0" y="2297400"/>
            <a:ext cx="914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Where is our project situated?</a:t>
            </a:r>
            <a:endParaRPr sz="3600"/>
          </a:p>
        </p:txBody>
      </p:sp>
      <p:sp>
        <p:nvSpPr>
          <p:cNvPr id="338" name="Google Shape;338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44" name="Google Shape;344;p43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5" name="Google Shape;345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Analysis &amp; Composition</a:t>
            </a:r>
            <a:endParaRPr/>
          </a:p>
        </p:txBody>
      </p:sp>
      <p:sp>
        <p:nvSpPr>
          <p:cNvPr id="351" name="Google Shape;351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52" name="Google Shape;352;p44"/>
          <p:cNvSpPr txBox="1"/>
          <p:nvPr/>
        </p:nvSpPr>
        <p:spPr>
          <a:xfrm>
            <a:off x="4321075" y="2011011"/>
            <a:ext cx="42357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Balanced Class Distribution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26 Base Classes: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Alphabetical A-Z letters.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 Extension Classes: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'space', 'del', and 'nothing'.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Volume: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3,000 images per class (balanced dataset).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Resolution: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200x200 pixel RGB images.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Variability: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Diverse backgrounds and lighting conditions across folders.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53" name="Google Shape;35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100" y="1267150"/>
            <a:ext cx="3382125" cy="33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 Strategy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60" name="Google Shape;360;p45"/>
          <p:cNvSpPr txBox="1"/>
          <p:nvPr/>
        </p:nvSpPr>
        <p:spPr>
          <a:xfrm>
            <a:off x="4702075" y="1448050"/>
            <a:ext cx="38547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CC0000"/>
                </a:solidFill>
                <a:latin typeface="Albert Sans"/>
                <a:ea typeface="Albert Sans"/>
                <a:cs typeface="Albert Sans"/>
                <a:sym typeface="Albert Sans"/>
              </a:rPr>
              <a:t>"Dangerous" Augmentations:</a:t>
            </a:r>
            <a:endParaRPr sz="1200" b="1">
              <a:solidFill>
                <a:srgbClr val="CC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Prohibited transformations that break legibility: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Horizontal Flips: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Mirroring changes fundamental hand sign semantics.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Extreme Rotations: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Unrealistic hand poses lead to poor generalization.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1" name="Google Shape;361;p45"/>
          <p:cNvSpPr txBox="1"/>
          <p:nvPr/>
        </p:nvSpPr>
        <p:spPr>
          <a:xfrm>
            <a:off x="715100" y="1448050"/>
            <a:ext cx="36060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AA84F"/>
                </a:solidFill>
                <a:latin typeface="Albert Sans"/>
                <a:ea typeface="Albert Sans"/>
                <a:cs typeface="Albert Sans"/>
                <a:sym typeface="Albert Sans"/>
              </a:rPr>
              <a:t>"Safe" Augmentations:</a:t>
            </a:r>
            <a:endParaRPr sz="1200" b="1">
              <a:solidFill>
                <a:srgbClr val="6AA84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Simulating natural variations without changing sign meaning: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Random Affine: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Rotation (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±15∘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) &amp; Translation (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±10%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).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Color Jitter: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Brightness &amp; Contrast shifts (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±0.2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).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Normalization: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ImageNet channel statistics.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Splitting Strategy &amp; Constraints</a:t>
            </a:r>
            <a:endParaRPr/>
          </a:p>
        </p:txBody>
      </p:sp>
      <p:sp>
        <p:nvSpPr>
          <p:cNvPr id="367" name="Google Shape;367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68" name="Google Shape;368;p46"/>
          <p:cNvSpPr txBox="1">
            <a:spLocks noGrp="1"/>
          </p:cNvSpPr>
          <p:nvPr>
            <p:ph type="subTitle" idx="1"/>
          </p:nvPr>
        </p:nvSpPr>
        <p:spPr>
          <a:xfrm>
            <a:off x="767900" y="2823624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70% Training, 15% Validation, 15% Testing. Randomized split with fixed seed (42) for reproducibility.</a:t>
            </a:r>
            <a:endParaRPr/>
          </a:p>
        </p:txBody>
      </p:sp>
      <p:sp>
        <p:nvSpPr>
          <p:cNvPr id="369" name="Google Shape;369;p46"/>
          <p:cNvSpPr txBox="1">
            <a:spLocks noGrp="1"/>
          </p:cNvSpPr>
          <p:nvPr>
            <p:ph type="subTitle" idx="2"/>
          </p:nvPr>
        </p:nvSpPr>
        <p:spPr>
          <a:xfrm>
            <a:off x="715075" y="1891012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70 / 15 / 15 Split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subTitle" idx="3"/>
          </p:nvPr>
        </p:nvSpPr>
        <p:spPr>
          <a:xfrm>
            <a:off x="3506113" y="2823611"/>
            <a:ext cx="2131800" cy="10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Thorough shuffling of class directories to ensure homogeneous representation of backgrounds and subjects.</a:t>
            </a:r>
            <a:endParaRPr/>
          </a:p>
        </p:txBody>
      </p:sp>
      <p:sp>
        <p:nvSpPr>
          <p:cNvPr id="371" name="Google Shape;371;p46"/>
          <p:cNvSpPr txBox="1">
            <a:spLocks noGrp="1"/>
          </p:cNvSpPr>
          <p:nvPr>
            <p:ph type="subTitle" idx="4"/>
          </p:nvPr>
        </p:nvSpPr>
        <p:spPr>
          <a:xfrm>
            <a:off x="3506125" y="1769641"/>
            <a:ext cx="2131800" cy="1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Pre-split Shuffling</a:t>
            </a:r>
            <a:endParaRPr/>
          </a:p>
        </p:txBody>
      </p:sp>
      <p:sp>
        <p:nvSpPr>
          <p:cNvPr id="372" name="Google Shape;372;p46"/>
          <p:cNvSpPr txBox="1">
            <a:spLocks noGrp="1"/>
          </p:cNvSpPr>
          <p:nvPr>
            <p:ph type="subTitle" idx="5"/>
          </p:nvPr>
        </p:nvSpPr>
        <p:spPr>
          <a:xfrm>
            <a:off x="6244350" y="2851438"/>
            <a:ext cx="2312400" cy="12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to missing subject IDs, strict subject-independent splitting is not possible. Results may be optimistic.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6"/>
          <p:cNvSpPr txBox="1">
            <a:spLocks noGrp="1"/>
          </p:cNvSpPr>
          <p:nvPr>
            <p:ph type="subTitle" idx="6"/>
          </p:nvPr>
        </p:nvSpPr>
        <p:spPr>
          <a:xfrm>
            <a:off x="6297175" y="1760813"/>
            <a:ext cx="2259600" cy="13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Leakage Risk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6"/>
          <p:cNvSpPr txBox="1">
            <a:spLocks noGrp="1"/>
          </p:cNvSpPr>
          <p:nvPr>
            <p:ph type="title" idx="4294967295"/>
          </p:nvPr>
        </p:nvSpPr>
        <p:spPr>
          <a:xfrm>
            <a:off x="397558" y="1827146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75" name="Google Shape;375;p46"/>
          <p:cNvSpPr txBox="1">
            <a:spLocks noGrp="1"/>
          </p:cNvSpPr>
          <p:nvPr>
            <p:ph type="title" idx="4294967295"/>
          </p:nvPr>
        </p:nvSpPr>
        <p:spPr>
          <a:xfrm>
            <a:off x="3169346" y="1827154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2.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4294967295"/>
          </p:nvPr>
        </p:nvSpPr>
        <p:spPr>
          <a:xfrm>
            <a:off x="5941142" y="1827154"/>
            <a:ext cx="607800" cy="6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3.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CNN Architecture</a:t>
            </a:r>
            <a:endParaRPr/>
          </a:p>
        </p:txBody>
      </p:sp>
      <p:sp>
        <p:nvSpPr>
          <p:cNvPr id="382" name="Google Shape;382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83" name="Google Shape;383;p47"/>
          <p:cNvSpPr txBox="1"/>
          <p:nvPr/>
        </p:nvSpPr>
        <p:spPr>
          <a:xfrm>
            <a:off x="715100" y="2010376"/>
            <a:ext cx="4235700" cy="24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Hierarchical Feature Extraction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4 Conv Blocks: 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Increasing channel depth (32 → 64 → 128 → 256).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Normalization: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BatchNorm2d after every convolution for stable training.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Spatial Pooling: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2x2 MaxPooling for aggressive downsampling.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Regularization: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Dropout (p=0.5) before final classification.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84" name="Google Shape;384;p47" descr="i need this image to be a custom cnn with this architecture: &#10;&#10;Hierarchical Feature Extraction&#10;&#10;&#10;4 Conv Blocks: Increasing channel depth (32 → 64 → 128 → 256).&#10;Normalization: BatchNorm2d after every convolution for stable training.&#10;Spatial Pooling: 2x2 MaxPooling for aggressive downsampling.&#10;Regularization: Dropout ($p=0.5$) before final classification.&#10;&#10;&#10;i need the old image to be gone completelly, i just need it to be in the smae place and same siz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038" y="1327950"/>
            <a:ext cx="3321350" cy="33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Architectures</a:t>
            </a:r>
            <a:endParaRPr/>
          </a:p>
        </p:txBody>
      </p:sp>
      <p:sp>
        <p:nvSpPr>
          <p:cNvPr id="390" name="Google Shape;390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91" name="Google Shape;391;p48"/>
          <p:cNvSpPr txBox="1"/>
          <p:nvPr/>
        </p:nvSpPr>
        <p:spPr>
          <a:xfrm>
            <a:off x="4714149" y="1448050"/>
            <a:ext cx="38547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Multi-Scale Feature Tracking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Parallel factorized convolutions.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Parallel 1x1, 3x3, and 5x5 filters.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Superior for fine details (M vs N).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715100" y="1448050"/>
            <a:ext cx="36060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6AA84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Efficiency &amp; Edge Ready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Inverted Residual Blocks.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Depthwise Separable Convolutions.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Ideal for real-time webcam demo.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Execution Workflow (Kaggle)</a:t>
            </a:r>
            <a:endParaRPr/>
          </a:p>
        </p:txBody>
      </p:sp>
      <p:sp>
        <p:nvSpPr>
          <p:cNvPr id="398" name="Google Shape;398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99" name="Google Shape;399;p49"/>
          <p:cNvSpPr txBox="1"/>
          <p:nvPr/>
        </p:nvSpPr>
        <p:spPr>
          <a:xfrm>
            <a:off x="1730921" y="2064657"/>
            <a:ext cx="1335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 Pipeline</a:t>
            </a:r>
            <a:endParaRPr sz="12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0" name="Google Shape;400;p49"/>
          <p:cNvSpPr txBox="1"/>
          <p:nvPr/>
        </p:nvSpPr>
        <p:spPr>
          <a:xfrm>
            <a:off x="3140382" y="2704138"/>
            <a:ext cx="12231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Architecture</a:t>
            </a:r>
            <a:endParaRPr sz="12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1" name="Google Shape;401;p49"/>
          <p:cNvSpPr txBox="1"/>
          <p:nvPr/>
        </p:nvSpPr>
        <p:spPr>
          <a:xfrm>
            <a:off x="4701929" y="2067750"/>
            <a:ext cx="816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Training</a:t>
            </a:r>
            <a:endParaRPr sz="12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5695113" y="2704138"/>
            <a:ext cx="13353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Metrics Export</a:t>
            </a:r>
            <a:endParaRPr sz="1232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3" name="Google Shape;403;p49"/>
          <p:cNvSpPr/>
          <p:nvPr/>
        </p:nvSpPr>
        <p:spPr>
          <a:xfrm rot="2700000">
            <a:off x="3099735" y="2490147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4" name="Google Shape;404;p49"/>
          <p:cNvSpPr/>
          <p:nvPr/>
        </p:nvSpPr>
        <p:spPr>
          <a:xfrm rot="2700000">
            <a:off x="5551297" y="2490156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5" name="Google Shape;405;p49"/>
          <p:cNvSpPr/>
          <p:nvPr/>
        </p:nvSpPr>
        <p:spPr>
          <a:xfrm rot="-2703207">
            <a:off x="4185539" y="2490009"/>
            <a:ext cx="454811" cy="1353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0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275" tIns="86275" rIns="86275" bIns="8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21"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21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6" name="Google Shape;406;p49"/>
          <p:cNvSpPr txBox="1"/>
          <p:nvPr/>
        </p:nvSpPr>
        <p:spPr>
          <a:xfrm>
            <a:off x="1397701" y="1564126"/>
            <a:ext cx="21381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Shuffling and batching on Kaggle scratch disks.</a:t>
            </a: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7" name="Google Shape;407;p49"/>
          <p:cNvSpPr txBox="1"/>
          <p:nvPr/>
        </p:nvSpPr>
        <p:spPr>
          <a:xfrm>
            <a:off x="2757294" y="3062138"/>
            <a:ext cx="189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PyTorch model definition (Custom vs Pre-trained).</a:t>
            </a: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8" name="Google Shape;408;p49"/>
          <p:cNvSpPr txBox="1"/>
          <p:nvPr/>
        </p:nvSpPr>
        <p:spPr>
          <a:xfrm>
            <a:off x="5417125" y="3039925"/>
            <a:ext cx="22290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Detailed CSV export for macro and per-class analysis.</a:t>
            </a: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9" name="Google Shape;409;p49"/>
          <p:cNvSpPr txBox="1"/>
          <p:nvPr/>
        </p:nvSpPr>
        <p:spPr>
          <a:xfrm>
            <a:off x="3863874" y="1576200"/>
            <a:ext cx="28566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GPU acceleration (nvidia tesla t4) with dynamic checkpointing.</a:t>
            </a: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32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0" name="Google Shape;4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1421" y="3978500"/>
            <a:ext cx="2388599" cy="92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Design</a:t>
            </a:r>
            <a:endParaRPr/>
          </a:p>
        </p:txBody>
      </p:sp>
      <p:sp>
        <p:nvSpPr>
          <p:cNvPr id="416" name="Google Shape;416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417" name="Google Shape;417;p50"/>
          <p:cNvSpPr txBox="1"/>
          <p:nvPr/>
        </p:nvSpPr>
        <p:spPr>
          <a:xfrm>
            <a:off x="715100" y="1756477"/>
            <a:ext cx="4235700" cy="24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Beyond Accuracy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Macro F1: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Tracks uniform performance across all classes, preventing masked blind spots.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Confusion Matrix: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Visualizing heatmaps to identify structural confusion between similar hand shapes.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Per-Class Metrics: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Per-class F1 Score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8" name="Google Shape;418;p50" title="inception_v3_transfer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525" y="1360214"/>
            <a:ext cx="3282248" cy="3077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/>
        </p:nvSpPr>
        <p:spPr>
          <a:xfrm>
            <a:off x="776850" y="1380650"/>
            <a:ext cx="3606000" cy="3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After model evaluation comparison….</a:t>
            </a:r>
            <a:endParaRPr sz="15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4" name="Google Shape;424;p51"/>
          <p:cNvSpPr txBox="1">
            <a:spLocks noGrp="1"/>
          </p:cNvSpPr>
          <p:nvPr>
            <p:ph type="title"/>
          </p:nvPr>
        </p:nvSpPr>
        <p:spPr>
          <a:xfrm>
            <a:off x="528600" y="505625"/>
            <a:ext cx="8086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 Transfer learning for 29-class Extension</a:t>
            </a:r>
            <a:endParaRPr/>
          </a:p>
        </p:txBody>
      </p:sp>
      <p:sp>
        <p:nvSpPr>
          <p:cNvPr id="425" name="Google Shape;425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426" name="Google Shape;426;p51"/>
          <p:cNvSpPr txBox="1"/>
          <p:nvPr/>
        </p:nvSpPr>
        <p:spPr>
          <a:xfrm>
            <a:off x="1473475" y="1893800"/>
            <a:ext cx="3854700" cy="24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-"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Select </a:t>
            </a:r>
            <a:r>
              <a:rPr lang="en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best model 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checkpoint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-"/>
            </a:pPr>
            <a:r>
              <a:rPr lang="en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Rebuild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the neural network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-"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Change the output layer for a </a:t>
            </a:r>
            <a:r>
              <a:rPr lang="en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29-class classifier</a:t>
            </a:r>
            <a:endParaRPr sz="16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-"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Perform </a:t>
            </a:r>
            <a:r>
              <a:rPr lang="en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fine tuning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to the model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lbert Sans"/>
              <a:buChar char="-"/>
            </a:pPr>
            <a:r>
              <a:rPr lang="en" sz="16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Evaluate </a:t>
            </a: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model with the same metrics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27" name="Google Shape;42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925" y="1190988"/>
            <a:ext cx="1135925" cy="113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925" y="2463588"/>
            <a:ext cx="1135925" cy="113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5925" y="3736188"/>
            <a:ext cx="1135925" cy="11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1"/>
          <p:cNvSpPr txBox="1"/>
          <p:nvPr/>
        </p:nvSpPr>
        <p:spPr>
          <a:xfrm>
            <a:off x="7968793" y="1581675"/>
            <a:ext cx="1050300" cy="31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DEL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NOTHING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SPACE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436" name="Google Shape;436;p52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7" name="Google Shape;437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Architecture: Custom CNN</a:t>
            </a:r>
            <a:endParaRPr/>
          </a:p>
        </p:txBody>
      </p:sp>
      <p:sp>
        <p:nvSpPr>
          <p:cNvPr id="443" name="Google Shape;443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444" name="Google Shape;444;p53"/>
          <p:cNvSpPr txBox="1"/>
          <p:nvPr/>
        </p:nvSpPr>
        <p:spPr>
          <a:xfrm>
            <a:off x="4702075" y="1857565"/>
            <a:ext cx="38547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Custom CNN + Adam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Replaces fixed momentum with adaptive first and second-moment tracking.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Evaluates convergence acceleration and how adaptive step sizes navigate loss plateaus.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5" name="Google Shape;445;p53"/>
          <p:cNvSpPr txBox="1"/>
          <p:nvPr/>
        </p:nvSpPr>
        <p:spPr>
          <a:xfrm>
            <a:off x="715100" y="1857565"/>
            <a:ext cx="36060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Custom CNN + SGD + Momentum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6AA84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Our strict baseline framework.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Examines classical stochastic gradient descent on non-pretrained feature maps.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6" name="Google Shape;446;p53"/>
          <p:cNvSpPr txBox="1"/>
          <p:nvPr/>
        </p:nvSpPr>
        <p:spPr>
          <a:xfrm>
            <a:off x="715100" y="1147250"/>
            <a:ext cx="77139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Objective: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Establish an empirical baseline using our custom topology to isolate hand silhouettes and test classical optimization behaviors.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Architecture: InceptionV3</a:t>
            </a:r>
            <a:endParaRPr/>
          </a:p>
        </p:txBody>
      </p:sp>
      <p:sp>
        <p:nvSpPr>
          <p:cNvPr id="452" name="Google Shape;45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53" name="Google Shape;453;p54"/>
          <p:cNvSpPr txBox="1"/>
          <p:nvPr/>
        </p:nvSpPr>
        <p:spPr>
          <a:xfrm>
            <a:off x="4702075" y="1857575"/>
            <a:ext cx="40644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Transfer Learning / Feature Extraction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Freezes the deep ImageNet base to leverage its highly optimized, pre-trained multiscale extractors.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Uses a scaled-down learning rate to prevent gradient shock on the new linear head.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4" name="Google Shape;454;p54"/>
          <p:cNvSpPr txBox="1"/>
          <p:nvPr/>
        </p:nvSpPr>
        <p:spPr>
          <a:xfrm>
            <a:off x="715100" y="1857565"/>
            <a:ext cx="36060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From Scratch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6AA84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Investigates if a complex, deep network can self-assemble detailed hand features entirely from raw data.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Uses a baseline step size with SGD + Momentum.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5" name="Google Shape;455;p54"/>
          <p:cNvSpPr txBox="1"/>
          <p:nvPr/>
        </p:nvSpPr>
        <p:spPr>
          <a:xfrm>
            <a:off x="715100" y="1147250"/>
            <a:ext cx="77139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Objective: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Evaluate a high-capacity network that utilizes parallel, multi-scale receptive fields crucial for capturing fine structural variations (e.g., distinguishing letters like M vs. N).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Comparative Architecture: MobileNetV2</a:t>
            </a:r>
            <a:endParaRPr/>
          </a:p>
        </p:txBody>
      </p:sp>
      <p:sp>
        <p:nvSpPr>
          <p:cNvPr id="461" name="Google Shape;461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62" name="Google Shape;462;p55"/>
          <p:cNvSpPr txBox="1"/>
          <p:nvPr/>
        </p:nvSpPr>
        <p:spPr>
          <a:xfrm>
            <a:off x="4702075" y="1857575"/>
            <a:ext cx="40644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Transfer Learning / Feature Extraction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Freezes the residual features base. It utilizes pre-optimized spatial shortcuts for fast alphabet recognition.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3" name="Google Shape;463;p55"/>
          <p:cNvSpPr txBox="1"/>
          <p:nvPr/>
        </p:nvSpPr>
        <p:spPr>
          <a:xfrm>
            <a:off x="715100" y="1857565"/>
            <a:ext cx="3606000" cy="23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From Scratch</a:t>
            </a:r>
            <a:endParaRPr sz="17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6AA84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Tests if efficient localized depthwise channels can map hand trajectories organically without an introductory prior distribution (same as with InceptionV3).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64" name="Google Shape;464;p55"/>
          <p:cNvSpPr txBox="1"/>
          <p:nvPr/>
        </p:nvSpPr>
        <p:spPr>
          <a:xfrm>
            <a:off x="715100" y="1147250"/>
            <a:ext cx="7713900" cy="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Objective:</a:t>
            </a: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Benchmark a highly efficient network engineered with depthwise separable convolutions and inverted residuals, targeted for low-latency web applications.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 txBox="1">
            <a:spLocks noGrp="1"/>
          </p:cNvSpPr>
          <p:nvPr>
            <p:ph type="title"/>
          </p:nvPr>
        </p:nvSpPr>
        <p:spPr>
          <a:xfrm>
            <a:off x="759275" y="494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Justification</a:t>
            </a:r>
            <a:endParaRPr/>
          </a:p>
        </p:txBody>
      </p:sp>
      <p:graphicFrame>
        <p:nvGraphicFramePr>
          <p:cNvPr id="470" name="Google Shape;470;p56"/>
          <p:cNvGraphicFramePr/>
          <p:nvPr/>
        </p:nvGraphicFramePr>
        <p:xfrm>
          <a:off x="759275" y="1272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{490DC184-62AF-4E9C-94C4-883083576297}</a:tableStyleId>
              </a:tblPr>
              <a:tblGrid>
                <a:gridCol w="16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Hyperparameter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Chosen Value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Justification for Selection 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Affected Experiments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Epochs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30hs of GPU usage on Kaggle limitation, fast experimentation.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All 6 Experiments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Batch Size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Force stochastic gradient noise into the path and avoid early local minima.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All 6 Experiments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Base Learning Rate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1×10</a:t>
                      </a:r>
                      <a:r>
                        <a:rPr lang="en" sz="1200" baseline="30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Standard established default for cross-entropy minimization across computer vision models.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All 6 Experiments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Loss Function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CrossEntropyLoss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Standard mathematical loss for multi-class categorization problems.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All 6 Experiments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SGD Learning Rate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1×10</a:t>
                      </a:r>
                      <a:r>
                        <a:rPr lang="en" sz="1200" baseline="30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-3</a:t>
                      </a:r>
                      <a:endParaRPr sz="1200" baseline="30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Small step size to isolate and map the true geometry of the loss surface.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Experiment 1 (Custom + SGD)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SGD Momentum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 accelerate convergence into the most meaningful directions.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Experiment 1 (Custom + SGD)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1" name="Google Shape;471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7"/>
          <p:cNvSpPr txBox="1">
            <a:spLocks noGrp="1"/>
          </p:cNvSpPr>
          <p:nvPr>
            <p:ph type="title"/>
          </p:nvPr>
        </p:nvSpPr>
        <p:spPr>
          <a:xfrm>
            <a:off x="759275" y="494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Justification</a:t>
            </a:r>
            <a:endParaRPr/>
          </a:p>
        </p:txBody>
      </p:sp>
      <p:graphicFrame>
        <p:nvGraphicFramePr>
          <p:cNvPr id="477" name="Google Shape;477;p57"/>
          <p:cNvGraphicFramePr/>
          <p:nvPr/>
        </p:nvGraphicFramePr>
        <p:xfrm>
          <a:off x="715050" y="1815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{490DC184-62AF-4E9C-94C4-883083576297}</a:tableStyleId>
              </a:tblPr>
              <a:tblGrid>
                <a:gridCol w="16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Hyperparameter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Chosen Value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Justification for Selection 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Affected Experiments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Adam Learning Rate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1×10</a:t>
                      </a:r>
                      <a:r>
                        <a:rPr lang="en" sz="1200" baseline="30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-3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Safely fine-tune step scales dynamically.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Experiment 2 (Custom + Adam)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Adam Beta 1 (β1​)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Maintaining stable forward direction memory.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Experiment 2 (Custom + Adam)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Adam Beta 2 (β2​)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Ensure that the scale normalization acts smoothly.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Experiment 2 (Custom + Adam)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8" name="Google Shape;478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8"/>
          <p:cNvSpPr txBox="1">
            <a:spLocks noGrp="1"/>
          </p:cNvSpPr>
          <p:nvPr>
            <p:ph type="subTitle" idx="1"/>
          </p:nvPr>
        </p:nvSpPr>
        <p:spPr>
          <a:xfrm>
            <a:off x="1678050" y="15476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</a:rPr>
              <a:t>……..It was MobilenetV2</a:t>
            </a:r>
            <a:endParaRPr sz="1900" b="1">
              <a:solidFill>
                <a:schemeClr val="accent1"/>
              </a:solidFill>
            </a:endParaRPr>
          </a:p>
        </p:txBody>
      </p:sp>
      <p:sp>
        <p:nvSpPr>
          <p:cNvPr id="484" name="Google Shape;484;p5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tuning the Best Model</a:t>
            </a:r>
            <a:endParaRPr/>
          </a:p>
        </p:txBody>
      </p:sp>
      <p:sp>
        <p:nvSpPr>
          <p:cNvPr id="485" name="Google Shape;485;p58"/>
          <p:cNvSpPr txBox="1">
            <a:spLocks noGrp="1"/>
          </p:cNvSpPr>
          <p:nvPr>
            <p:ph type="subTitle" idx="2"/>
          </p:nvPr>
        </p:nvSpPr>
        <p:spPr>
          <a:xfrm>
            <a:off x="909800" y="2439075"/>
            <a:ext cx="73245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Trained the model with the full dataset and same hyperparameters, replacing the original classifier with a 29-class classifier.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3 Feature Layers were unfrozen. A total of 1,243,229</a:t>
            </a:r>
            <a:endParaRPr sz="1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parameters.</a:t>
            </a:r>
            <a:endParaRPr sz="1900"/>
          </a:p>
        </p:txBody>
      </p:sp>
      <p:sp>
        <p:nvSpPr>
          <p:cNvPr id="486" name="Google Shape;486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487" name="Google Shape;487;p58"/>
          <p:cNvPicPr preferRelativeResize="0"/>
          <p:nvPr/>
        </p:nvPicPr>
        <p:blipFill rotWithShape="1">
          <a:blip r:embed="rId3">
            <a:alphaModFix/>
          </a:blip>
          <a:srcRect t="12658" b="13921"/>
          <a:stretch/>
        </p:blipFill>
        <p:spPr>
          <a:xfrm rot="-1237642">
            <a:off x="1081326" y="1358482"/>
            <a:ext cx="1025549" cy="548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9"/>
          <p:cNvSpPr txBox="1">
            <a:spLocks noGrp="1"/>
          </p:cNvSpPr>
          <p:nvPr>
            <p:ph type="title"/>
          </p:nvPr>
        </p:nvSpPr>
        <p:spPr>
          <a:xfrm>
            <a:off x="717600" y="3017425"/>
            <a:ext cx="93405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Results </a:t>
            </a:r>
            <a:endParaRPr sz="6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&amp; Discussion</a:t>
            </a:r>
            <a:endParaRPr sz="6400"/>
          </a:p>
        </p:txBody>
      </p:sp>
      <p:sp>
        <p:nvSpPr>
          <p:cNvPr id="493" name="Google Shape;493;p59"/>
          <p:cNvSpPr txBox="1">
            <a:spLocks noGrp="1"/>
          </p:cNvSpPr>
          <p:nvPr>
            <p:ph type="title" idx="2"/>
          </p:nvPr>
        </p:nvSpPr>
        <p:spPr>
          <a:xfrm>
            <a:off x="717600" y="194490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94" name="Google Shape;494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500" name="Google Shape;500;p60" title="custom_cnn_scratch_20260531_200426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75" y="1360175"/>
            <a:ext cx="2334423" cy="14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0" title="custom_cnn_scratch_20260531_201858_curv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75" y="3347925"/>
            <a:ext cx="2334423" cy="149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0" title="inception_v3_pretrained_20260601_205147_curv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375" y="1360163"/>
            <a:ext cx="2334423" cy="149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0" title="inception_v3_scratch_20260601_210925_curv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1375" y="3322572"/>
            <a:ext cx="2334423" cy="1492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0" title="mobilenet_v2_pretrained_20260531_203104_curve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4050" y="1360175"/>
            <a:ext cx="2334423" cy="149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0" title="mobilenet_v2_scratch_20260531_204244_curves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4050" y="3347913"/>
            <a:ext cx="2334423" cy="1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60"/>
          <p:cNvSpPr txBox="1">
            <a:spLocks noGrp="1"/>
          </p:cNvSpPr>
          <p:nvPr>
            <p:ph type="title"/>
          </p:nvPr>
        </p:nvSpPr>
        <p:spPr>
          <a:xfrm>
            <a:off x="402892" y="12861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Loss &amp; Accuracy Curves: Training and Validation</a:t>
            </a:r>
            <a:endParaRPr sz="2500"/>
          </a:p>
        </p:txBody>
      </p:sp>
      <p:sp>
        <p:nvSpPr>
          <p:cNvPr id="507" name="Google Shape;507;p60"/>
          <p:cNvSpPr txBox="1"/>
          <p:nvPr/>
        </p:nvSpPr>
        <p:spPr>
          <a:xfrm>
            <a:off x="3591146" y="987566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8" name="Google Shape;508;p60"/>
          <p:cNvSpPr txBox="1"/>
          <p:nvPr/>
        </p:nvSpPr>
        <p:spPr>
          <a:xfrm>
            <a:off x="3591146" y="2995888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Full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9" name="Google Shape;509;p60"/>
          <p:cNvSpPr txBox="1"/>
          <p:nvPr/>
        </p:nvSpPr>
        <p:spPr>
          <a:xfrm>
            <a:off x="6503814" y="987566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0" name="Google Shape;510;p60"/>
          <p:cNvSpPr txBox="1"/>
          <p:nvPr/>
        </p:nvSpPr>
        <p:spPr>
          <a:xfrm>
            <a:off x="6503821" y="2995891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Full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1" name="Google Shape;511;p60"/>
          <p:cNvSpPr txBox="1"/>
          <p:nvPr/>
        </p:nvSpPr>
        <p:spPr>
          <a:xfrm>
            <a:off x="801759" y="987566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 - SDG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2" name="Google Shape;512;p60"/>
          <p:cNvSpPr txBox="1"/>
          <p:nvPr/>
        </p:nvSpPr>
        <p:spPr>
          <a:xfrm>
            <a:off x="801746" y="2995891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 - Adam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518" name="Google Shape;518;p61" title="curves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55" y="57852"/>
            <a:ext cx="7576873" cy="5027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aphicFrame>
        <p:nvGraphicFramePr>
          <p:cNvPr id="524" name="Google Shape;524;p62"/>
          <p:cNvGraphicFramePr/>
          <p:nvPr/>
        </p:nvGraphicFramePr>
        <p:xfrm>
          <a:off x="759275" y="1376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{490DC184-62AF-4E9C-94C4-883083576297}</a:tableStyleId>
              </a:tblPr>
              <a:tblGrid>
                <a:gridCol w="145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Experiment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Trainable Parameters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Epochs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Training Loss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Validation Loss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Training Accuracy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Validation Accuracy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Custom + SGD Momentum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396,058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1.0126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0.5388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0.6703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0.8424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Custom + Adam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396,058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1.0473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0.5698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0.6742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0.8653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InceptionV3 - Feature Extraction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53,274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1.4519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0.9548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0.5824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0.7529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InceptionV3 - Full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21,838,842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0.1425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0.0126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0.9530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MobilenetV2 - Feature Extraction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33,306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0.9560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0.7806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0.7543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0.8305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MobilenetV2 - Full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2,257,178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0.0342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0.0017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0.9904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5" name="Google Shape;525;p62"/>
          <p:cNvSpPr txBox="1">
            <a:spLocks noGrp="1"/>
          </p:cNvSpPr>
          <p:nvPr>
            <p:ph type="title"/>
          </p:nvPr>
        </p:nvSpPr>
        <p:spPr>
          <a:xfrm>
            <a:off x="290325" y="3033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Training Summary</a:t>
            </a:r>
            <a:endParaRPr sz="2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3"/>
          <p:cNvSpPr txBox="1">
            <a:spLocks noGrp="1"/>
          </p:cNvSpPr>
          <p:nvPr>
            <p:ph type="title"/>
          </p:nvPr>
        </p:nvSpPr>
        <p:spPr>
          <a:xfrm>
            <a:off x="402892" y="12861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Matrices</a:t>
            </a:r>
            <a:endParaRPr/>
          </a:p>
        </p:txBody>
      </p:sp>
      <p:sp>
        <p:nvSpPr>
          <p:cNvPr id="531" name="Google Shape;531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532" name="Google Shape;532;p63" title="mobilenet_v2_transfer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6925" y="1075477"/>
            <a:ext cx="1869225" cy="175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3" title="inception_v3_scratch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462" y="3226000"/>
            <a:ext cx="1869225" cy="175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3" title="inception_v3_transfer_confusion_matri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5850" y="1075475"/>
            <a:ext cx="1869225" cy="175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63" title="mobilenet_v2_scratch_confusion_matri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0981" y="3226013"/>
            <a:ext cx="1869225" cy="1752403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63"/>
          <p:cNvSpPr txBox="1"/>
          <p:nvPr/>
        </p:nvSpPr>
        <p:spPr>
          <a:xfrm>
            <a:off x="3730625" y="7030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7" name="Google Shape;537;p63"/>
          <p:cNvSpPr txBox="1"/>
          <p:nvPr/>
        </p:nvSpPr>
        <p:spPr>
          <a:xfrm>
            <a:off x="3704550" y="2944121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Full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8" name="Google Shape;538;p63"/>
          <p:cNvSpPr txBox="1"/>
          <p:nvPr/>
        </p:nvSpPr>
        <p:spPr>
          <a:xfrm>
            <a:off x="6904088" y="7030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9" name="Google Shape;539;p63"/>
          <p:cNvSpPr txBox="1"/>
          <p:nvPr/>
        </p:nvSpPr>
        <p:spPr>
          <a:xfrm>
            <a:off x="6904100" y="29441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Full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0" name="Google Shape;540;p63"/>
          <p:cNvSpPr txBox="1"/>
          <p:nvPr/>
        </p:nvSpPr>
        <p:spPr>
          <a:xfrm>
            <a:off x="557150" y="7030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 - SGD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1" name="Google Shape;541;p63"/>
          <p:cNvSpPr txBox="1"/>
          <p:nvPr/>
        </p:nvSpPr>
        <p:spPr>
          <a:xfrm>
            <a:off x="505000" y="29441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 - Adam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42" name="Google Shape;542;p63" title="custom_cnn_adam_confusion_matri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802" y="3226028"/>
            <a:ext cx="1869225" cy="175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3" title="custom_cnn_sgd_momentum_confusion_matri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600" y="1075475"/>
            <a:ext cx="1869225" cy="175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549" name="Google Shape;549;p64"/>
          <p:cNvSpPr txBox="1">
            <a:spLocks noGrp="1"/>
          </p:cNvSpPr>
          <p:nvPr>
            <p:ph type="title" idx="4294967295"/>
          </p:nvPr>
        </p:nvSpPr>
        <p:spPr>
          <a:xfrm>
            <a:off x="759275" y="385662"/>
            <a:ext cx="31593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Per-class F1 Score</a:t>
            </a:r>
            <a:endParaRPr/>
          </a:p>
        </p:txBody>
      </p:sp>
      <p:grpSp>
        <p:nvGrpSpPr>
          <p:cNvPr id="550" name="Google Shape;550;p64"/>
          <p:cNvGrpSpPr/>
          <p:nvPr/>
        </p:nvGrpSpPr>
        <p:grpSpPr>
          <a:xfrm>
            <a:off x="5666775" y="277325"/>
            <a:ext cx="3219300" cy="831900"/>
            <a:chOff x="5389450" y="458175"/>
            <a:chExt cx="3219300" cy="831900"/>
          </a:xfrm>
        </p:grpSpPr>
        <p:sp>
          <p:nvSpPr>
            <p:cNvPr id="551" name="Google Shape;551;p64"/>
            <p:cNvSpPr txBox="1"/>
            <p:nvPr/>
          </p:nvSpPr>
          <p:spPr>
            <a:xfrm>
              <a:off x="5389450" y="458175"/>
              <a:ext cx="32193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F1 = 2 x  Precision x Recall</a:t>
              </a:r>
              <a:br>
                <a:rPr lang="en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</a:br>
              <a:r>
                <a:rPr lang="en">
                  <a:solidFill>
                    <a:schemeClr val="dk1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               Precision + Recall</a:t>
              </a:r>
              <a:endPara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cxnSp>
          <p:nvCxnSpPr>
            <p:cNvPr id="552" name="Google Shape;552;p64"/>
            <p:cNvCxnSpPr/>
            <p:nvPr/>
          </p:nvCxnSpPr>
          <p:spPr>
            <a:xfrm>
              <a:off x="6644175" y="879225"/>
              <a:ext cx="1460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53" name="Google Shape;553;p64"/>
          <p:cNvSpPr txBox="1"/>
          <p:nvPr/>
        </p:nvSpPr>
        <p:spPr>
          <a:xfrm>
            <a:off x="4447498" y="1455021"/>
            <a:ext cx="1458385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0.9951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0.9988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0.9969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0.9957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0.9988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0.9944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0.9815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0.9837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0.9978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0.9965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0.9929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0.9883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0.9912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0.9898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0.9987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0.9890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1.0</a:t>
            </a:r>
            <a:endParaRPr sz="800" dirty="0"/>
          </a:p>
        </p:txBody>
      </p:sp>
      <p:sp>
        <p:nvSpPr>
          <p:cNvPr id="554" name="Google Shape;554;p64"/>
          <p:cNvSpPr txBox="1"/>
          <p:nvPr/>
        </p:nvSpPr>
        <p:spPr>
          <a:xfrm>
            <a:off x="2951238" y="1449766"/>
            <a:ext cx="1458385" cy="342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0.7995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0.8551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0.8421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0.8315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0.7749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0.8919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0.8103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0.8292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0.7511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0.7518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0.7210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0.7834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0.6958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0.7567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0.8492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0.8142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0.8368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0.7289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0.5988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0.6819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0.5702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0.6102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0.7486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0.6201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0.5666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0.7500</a:t>
            </a:r>
            <a:endParaRPr sz="800" dirty="0"/>
          </a:p>
        </p:txBody>
      </p:sp>
      <p:sp>
        <p:nvSpPr>
          <p:cNvPr id="555" name="Google Shape;555;p64"/>
          <p:cNvSpPr txBox="1"/>
          <p:nvPr/>
        </p:nvSpPr>
        <p:spPr>
          <a:xfrm>
            <a:off x="5903539" y="1479775"/>
            <a:ext cx="1508533" cy="3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0.8347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0.8547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0.9080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0.9045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0.7895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0.9333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0.8119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0.8411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0.7785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0.8276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0.8377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0.9278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0.6828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0.8047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0.8926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0.9036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0.8759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0.7538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0.7311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0.8110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0.7173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0.7609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0.7982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0.6827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0.8167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0.8433</a:t>
            </a:r>
            <a:endParaRPr sz="800" dirty="0"/>
          </a:p>
        </p:txBody>
      </p:sp>
      <p:sp>
        <p:nvSpPr>
          <p:cNvPr id="556" name="Google Shape;556;p64"/>
          <p:cNvSpPr txBox="1"/>
          <p:nvPr/>
        </p:nvSpPr>
        <p:spPr>
          <a:xfrm>
            <a:off x="7504248" y="1479775"/>
            <a:ext cx="1437750" cy="342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0.9987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0.9978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0.9978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0.9988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1.0</a:t>
            </a:r>
            <a:endParaRPr sz="800" dirty="0"/>
          </a:p>
        </p:txBody>
      </p:sp>
      <p:sp>
        <p:nvSpPr>
          <p:cNvPr id="557" name="Google Shape;557;p64"/>
          <p:cNvSpPr txBox="1"/>
          <p:nvPr/>
        </p:nvSpPr>
        <p:spPr>
          <a:xfrm>
            <a:off x="2805063" y="11092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FE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8" name="Google Shape;558;p64"/>
          <p:cNvSpPr txBox="1"/>
          <p:nvPr/>
        </p:nvSpPr>
        <p:spPr>
          <a:xfrm>
            <a:off x="5742524" y="11092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FE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59" name="Google Shape;559;p64"/>
          <p:cNvSpPr txBox="1"/>
          <p:nvPr/>
        </p:nvSpPr>
        <p:spPr>
          <a:xfrm>
            <a:off x="4263470" y="1109221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InceptionV3 - Full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0" name="Google Shape;560;p64"/>
          <p:cNvSpPr txBox="1"/>
          <p:nvPr/>
        </p:nvSpPr>
        <p:spPr>
          <a:xfrm>
            <a:off x="7289300" y="11092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MobilenetV2 - Full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61" name="Google Shape;561;p64"/>
          <p:cNvSpPr txBox="1"/>
          <p:nvPr/>
        </p:nvSpPr>
        <p:spPr>
          <a:xfrm>
            <a:off x="1522228" y="1436367"/>
            <a:ext cx="1465105" cy="3423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0.8032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0.8285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0.9933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0.9462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0.8261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0.9550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0.9307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0.9369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0.9550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0.9803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0.9407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0.9360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0.8042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0.8400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0.9829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0.9761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0.9866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0.8709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0.8970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0.6351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0.7967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0.5047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0.7209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0.7751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0.9315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0.8252</a:t>
            </a:r>
            <a:endParaRPr sz="800" dirty="0"/>
          </a:p>
        </p:txBody>
      </p:sp>
      <p:sp>
        <p:nvSpPr>
          <p:cNvPr id="562" name="Google Shape;562;p64"/>
          <p:cNvSpPr txBox="1"/>
          <p:nvPr/>
        </p:nvSpPr>
        <p:spPr>
          <a:xfrm>
            <a:off x="1367320" y="11092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Custom- Adam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563" name="Google Shape;563;p64"/>
          <p:cNvCxnSpPr/>
          <p:nvPr/>
        </p:nvCxnSpPr>
        <p:spPr>
          <a:xfrm>
            <a:off x="2961722" y="1239478"/>
            <a:ext cx="0" cy="3631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64"/>
          <p:cNvCxnSpPr/>
          <p:nvPr/>
        </p:nvCxnSpPr>
        <p:spPr>
          <a:xfrm>
            <a:off x="4391343" y="1239478"/>
            <a:ext cx="0" cy="3631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64"/>
          <p:cNvCxnSpPr/>
          <p:nvPr/>
        </p:nvCxnSpPr>
        <p:spPr>
          <a:xfrm>
            <a:off x="5874197" y="1239478"/>
            <a:ext cx="0" cy="3631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6" name="Google Shape;566;p64"/>
          <p:cNvCxnSpPr/>
          <p:nvPr/>
        </p:nvCxnSpPr>
        <p:spPr>
          <a:xfrm>
            <a:off x="7412072" y="1239478"/>
            <a:ext cx="0" cy="3631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64"/>
          <p:cNvCxnSpPr/>
          <p:nvPr/>
        </p:nvCxnSpPr>
        <p:spPr>
          <a:xfrm>
            <a:off x="1507822" y="1239478"/>
            <a:ext cx="0" cy="36312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8" name="Google Shape;568;p64"/>
          <p:cNvSpPr txBox="1"/>
          <p:nvPr/>
        </p:nvSpPr>
        <p:spPr>
          <a:xfrm>
            <a:off x="89399" y="1481821"/>
            <a:ext cx="1450904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0.8773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0.9296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0.9944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0.9543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0.8629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0.9700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0.9041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0.9145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0.8834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0.9470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0.8864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0.9881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0.7455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0.6308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0.9700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0.9701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0.9801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0.8789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0.8427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0.8235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0.7681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0.3302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0.7101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0.7570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0.9572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0.8705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/>
          </a:p>
        </p:txBody>
      </p:sp>
      <p:sp>
        <p:nvSpPr>
          <p:cNvPr id="569" name="Google Shape;569;p64"/>
          <p:cNvSpPr txBox="1"/>
          <p:nvPr/>
        </p:nvSpPr>
        <p:spPr>
          <a:xfrm>
            <a:off x="-132380" y="1109225"/>
            <a:ext cx="17349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Custom- SGD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"/>
          <p:cNvSpPr txBox="1">
            <a:spLocks noGrp="1"/>
          </p:cNvSpPr>
          <p:nvPr>
            <p:ph type="title"/>
          </p:nvPr>
        </p:nvSpPr>
        <p:spPr>
          <a:xfrm>
            <a:off x="759275" y="494175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Metrics Summary</a:t>
            </a:r>
            <a:endParaRPr/>
          </a:p>
        </p:txBody>
      </p:sp>
      <p:graphicFrame>
        <p:nvGraphicFramePr>
          <p:cNvPr id="575" name="Google Shape;575;p65"/>
          <p:cNvGraphicFramePr/>
          <p:nvPr/>
        </p:nvGraphicFramePr>
        <p:xfrm>
          <a:off x="759275" y="1376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{490DC184-62AF-4E9C-94C4-883083576297}</a:tableStyleId>
              </a:tblPr>
              <a:tblGrid>
                <a:gridCol w="16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Experiment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Trainable Parameters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Epochs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Loss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Macro F1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Accuracy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Custom + SGD Momentum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396,058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0.5308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0.8595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0.8459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Custom + Adam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396,058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0.5607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0.8684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0.8716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InceptionV3 - Feature Extraction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53,274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0.9609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0.7488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0.7511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InceptionV3 - Full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21,838,842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0.0178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0.9957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0.9958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MobilenetV2 - Feature Extraction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33,306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0.7909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0.8201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0.8219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MobilenetV2 - Full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2,257,178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0.0013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6" name="Google Shape;576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&amp; Accuracy Curves: 29-class Extension</a:t>
            </a:r>
            <a:endParaRPr/>
          </a:p>
        </p:txBody>
      </p:sp>
      <p:sp>
        <p:nvSpPr>
          <p:cNvPr id="582" name="Google Shape;582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pic>
        <p:nvPicPr>
          <p:cNvPr id="583" name="Google Shape;583;p66" title="finetune_mobilenet_v2_29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50" y="1083700"/>
            <a:ext cx="5874898" cy="375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7"/>
          <p:cNvSpPr/>
          <p:nvPr/>
        </p:nvSpPr>
        <p:spPr>
          <a:xfrm>
            <a:off x="5271225" y="1158150"/>
            <a:ext cx="2684400" cy="25761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89" name="Google Shape;589;p67"/>
          <p:cNvSpPr txBox="1">
            <a:spLocks noGrp="1"/>
          </p:cNvSpPr>
          <p:nvPr>
            <p:ph type="title"/>
          </p:nvPr>
        </p:nvSpPr>
        <p:spPr>
          <a:xfrm>
            <a:off x="290325" y="3033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Evaluation on 29-class MobilenetV2</a:t>
            </a:r>
            <a:endParaRPr/>
          </a:p>
        </p:txBody>
      </p:sp>
      <p:sp>
        <p:nvSpPr>
          <p:cNvPr id="590" name="Google Shape;590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591" name="Google Shape;591;p67"/>
          <p:cNvSpPr txBox="1"/>
          <p:nvPr/>
        </p:nvSpPr>
        <p:spPr>
          <a:xfrm>
            <a:off x="5285684" y="1617450"/>
            <a:ext cx="1637208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A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B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C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E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F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G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H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I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J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K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L	1.0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M	0.9988</a:t>
            </a:r>
            <a:endParaRPr sz="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	0.9988</a:t>
            </a:r>
            <a:endParaRPr sz="800" dirty="0"/>
          </a:p>
        </p:txBody>
      </p:sp>
      <p:graphicFrame>
        <p:nvGraphicFramePr>
          <p:cNvPr id="592" name="Google Shape;592;p67"/>
          <p:cNvGraphicFramePr/>
          <p:nvPr/>
        </p:nvGraphicFramePr>
        <p:xfrm>
          <a:off x="694975" y="4133833"/>
          <a:ext cx="7625450" cy="974810"/>
        </p:xfrm>
        <a:graphic>
          <a:graphicData uri="http://schemas.openxmlformats.org/drawingml/2006/table">
            <a:tbl>
              <a:tblPr>
                <a:noFill/>
                <a:tableStyleId>{490DC184-62AF-4E9C-94C4-883083576297}</a:tableStyleId>
              </a:tblPr>
              <a:tblGrid>
                <a:gridCol w="16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3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Experiment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Trainable Parameters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Epochs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Loss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Macro F1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Accuracy</a:t>
                      </a:r>
                      <a:endParaRPr sz="1200">
                        <a:solidFill>
                          <a:schemeClr val="lt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exandria Medium"/>
                          <a:ea typeface="Alexandria Medium"/>
                          <a:cs typeface="Alexandria Medium"/>
                          <a:sym typeface="Alexandria Medium"/>
                        </a:rPr>
                        <a:t>MobilenetV2 - 29-class Extension</a:t>
                      </a:r>
                      <a:endParaRPr sz="1200">
                        <a:solidFill>
                          <a:schemeClr val="dk1"/>
                        </a:solidFill>
                        <a:latin typeface="Alexandria Medium"/>
                        <a:ea typeface="Alexandria Medium"/>
                        <a:cs typeface="Alexandria Medium"/>
                        <a:sym typeface="Alexandria Medium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1,243,229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0.0007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0.9998</a:t>
                      </a:r>
                      <a:endParaRPr sz="12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93" name="Google Shape;593;p67" title="mobilenet_v2_finetuned_29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775" y="1147000"/>
            <a:ext cx="2899978" cy="273571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7"/>
          <p:cNvSpPr txBox="1"/>
          <p:nvPr/>
        </p:nvSpPr>
        <p:spPr>
          <a:xfrm>
            <a:off x="6585754" y="1617450"/>
            <a:ext cx="1707009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O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P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Q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R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T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U	0.9989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V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W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X	0.9988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Y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Z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del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nothing	1.0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/>
              <a:t>space	1.0</a:t>
            </a:r>
            <a:endParaRPr sz="800" dirty="0"/>
          </a:p>
        </p:txBody>
      </p:sp>
      <p:sp>
        <p:nvSpPr>
          <p:cNvPr id="595" name="Google Shape;595;p67"/>
          <p:cNvSpPr txBox="1"/>
          <p:nvPr/>
        </p:nvSpPr>
        <p:spPr>
          <a:xfrm>
            <a:off x="5699467" y="1173796"/>
            <a:ext cx="1827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Per-class F1</a:t>
            </a:r>
            <a:endParaRPr sz="15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5ABBC55-B47C-4851-C505-D478C308D5D0}"/>
              </a:ext>
            </a:extLst>
          </p:cNvPr>
          <p:cNvCxnSpPr>
            <a:cxnSpLocks/>
          </p:cNvCxnSpPr>
          <p:nvPr/>
        </p:nvCxnSpPr>
        <p:spPr>
          <a:xfrm>
            <a:off x="6634882" y="1722496"/>
            <a:ext cx="0" cy="180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Letters being mixed up are similar.</a:t>
            </a:r>
            <a:br>
              <a:rPr lang="en"/>
            </a:br>
            <a:br>
              <a:rPr lang="en"/>
            </a:br>
            <a:endParaRPr sz="12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pic>
        <p:nvPicPr>
          <p:cNvPr id="602" name="Google Shape;60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000" y="231547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0525" y="23154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68"/>
          <p:cNvSpPr txBox="1"/>
          <p:nvPr/>
        </p:nvSpPr>
        <p:spPr>
          <a:xfrm>
            <a:off x="5263900" y="1921875"/>
            <a:ext cx="3604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X		           with 			U</a:t>
            </a:r>
            <a:endParaRPr sz="1200" b="1">
              <a:solidFill>
                <a:schemeClr val="accen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605" name="Google Shape;605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100" y="2315475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3538" y="2315475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8"/>
          <p:cNvSpPr txBox="1"/>
          <p:nvPr/>
        </p:nvSpPr>
        <p:spPr>
          <a:xfrm>
            <a:off x="642941" y="1934025"/>
            <a:ext cx="461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1"/>
                </a:solidFill>
                <a:latin typeface="Albert Sans"/>
                <a:ea typeface="Albert Sans"/>
                <a:cs typeface="Albert Sans"/>
                <a:sym typeface="Albert Sans"/>
              </a:rPr>
              <a:t>M		           with 			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9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613" name="Google Shape;613;p69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14" name="Google Shape;614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0"/>
          <p:cNvSpPr txBox="1">
            <a:spLocks noGrp="1"/>
          </p:cNvSpPr>
          <p:nvPr>
            <p:ph type="title"/>
          </p:nvPr>
        </p:nvSpPr>
        <p:spPr>
          <a:xfrm>
            <a:off x="715050" y="7282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Part 1: Model Comparison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20" name="Google Shape;620;p70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Pre-trained ImageNet weights are optimized for generic objects, and training a small number of parameters (only 0.2% of weights in InceptionV3) is not enough. </a:t>
            </a:r>
            <a:endParaRPr/>
          </a:p>
        </p:txBody>
      </p:sp>
      <p:sp>
        <p:nvSpPr>
          <p:cNvPr id="621" name="Google Shape;621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622" name="Google Shape;622;p70"/>
          <p:cNvSpPr txBox="1">
            <a:spLocks noGrp="1"/>
          </p:cNvSpPr>
          <p:nvPr>
            <p:ph type="subTitle" idx="2"/>
          </p:nvPr>
        </p:nvSpPr>
        <p:spPr>
          <a:xfrm>
            <a:off x="715100" y="3588775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had a (small but) better performance on the Custom CNN. Adaptive learning rates optimizers produce a faster convergence.</a:t>
            </a:r>
            <a:endParaRPr/>
          </a:p>
        </p:txBody>
      </p:sp>
      <p:sp>
        <p:nvSpPr>
          <p:cNvPr id="623" name="Google Shape;623;p70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Limitations</a:t>
            </a:r>
            <a:endParaRPr/>
          </a:p>
        </p:txBody>
      </p:sp>
      <p:sp>
        <p:nvSpPr>
          <p:cNvPr id="624" name="Google Shape;624;p70"/>
          <p:cNvSpPr txBox="1">
            <a:spLocks noGrp="1"/>
          </p:cNvSpPr>
          <p:nvPr>
            <p:ph type="subTitle" idx="4"/>
          </p:nvPr>
        </p:nvSpPr>
        <p:spPr>
          <a:xfrm>
            <a:off x="715100" y="3208975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Optimizer Convergence</a:t>
            </a:r>
            <a:endParaRPr/>
          </a:p>
        </p:txBody>
      </p:sp>
      <p:sp>
        <p:nvSpPr>
          <p:cNvPr id="625" name="Google Shape;625;p70"/>
          <p:cNvSpPr txBox="1">
            <a:spLocks noGrp="1"/>
          </p:cNvSpPr>
          <p:nvPr>
            <p:ph type="subTitle" idx="5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small, custom 4-block CNN built from scratch  with only 396,058 parameters outperformed both well-known arquitectures on feature extraction.</a:t>
            </a:r>
            <a:endParaRPr/>
          </a:p>
        </p:txBody>
      </p:sp>
      <p:sp>
        <p:nvSpPr>
          <p:cNvPr id="626" name="Google Shape;626;p70"/>
          <p:cNvSpPr txBox="1">
            <a:spLocks noGrp="1"/>
          </p:cNvSpPr>
          <p:nvPr>
            <p:ph type="subTitle" idx="6"/>
          </p:nvPr>
        </p:nvSpPr>
        <p:spPr>
          <a:xfrm>
            <a:off x="4648300" y="3588775"/>
            <a:ext cx="37806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Receptive fields size difference may have had an effect on the different architecture’s performance. </a:t>
            </a:r>
            <a:endParaRPr/>
          </a:p>
        </p:txBody>
      </p:sp>
      <p:sp>
        <p:nvSpPr>
          <p:cNvPr id="627" name="Google Shape;627;p70"/>
          <p:cNvSpPr txBox="1">
            <a:spLocks noGrp="1"/>
          </p:cNvSpPr>
          <p:nvPr>
            <p:ph type="subTitle" idx="7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CNN Efficiency</a:t>
            </a:r>
            <a:endParaRPr/>
          </a:p>
        </p:txBody>
      </p:sp>
      <p:sp>
        <p:nvSpPr>
          <p:cNvPr id="628" name="Google Shape;628;p70"/>
          <p:cNvSpPr txBox="1">
            <a:spLocks noGrp="1"/>
          </p:cNvSpPr>
          <p:nvPr>
            <p:ph type="subTitle" idx="8"/>
          </p:nvPr>
        </p:nvSpPr>
        <p:spPr>
          <a:xfrm>
            <a:off x="4648300" y="3208975"/>
            <a:ext cx="37806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MobilenetV2 vs. InceptionV3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"/>
          <p:cNvSpPr txBox="1">
            <a:spLocks noGrp="1"/>
          </p:cNvSpPr>
          <p:nvPr>
            <p:ph type="title"/>
          </p:nvPr>
        </p:nvSpPr>
        <p:spPr>
          <a:xfrm>
            <a:off x="145500" y="535000"/>
            <a:ext cx="8853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Correlation between Trainable Parameters and Accuracy</a:t>
            </a:r>
            <a:endParaRPr sz="2200"/>
          </a:p>
        </p:txBody>
      </p:sp>
      <p:sp>
        <p:nvSpPr>
          <p:cNvPr id="634" name="Google Shape;634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pic>
        <p:nvPicPr>
          <p:cNvPr id="635" name="Google Shape;635;p71" title="accuracy_vs_paramet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450" y="1083700"/>
            <a:ext cx="5643107" cy="37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641" name="Google Shape;641;p72"/>
          <p:cNvSpPr txBox="1">
            <a:spLocks noGrp="1"/>
          </p:cNvSpPr>
          <p:nvPr>
            <p:ph type="title"/>
          </p:nvPr>
        </p:nvSpPr>
        <p:spPr>
          <a:xfrm>
            <a:off x="715050" y="7282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Part 2: Fine Tuning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42" name="Google Shape;642;p72"/>
          <p:cNvSpPr txBox="1">
            <a:spLocks noGrp="1"/>
          </p:cNvSpPr>
          <p:nvPr>
            <p:ph type="subTitle" idx="1"/>
          </p:nvPr>
        </p:nvSpPr>
        <p:spPr>
          <a:xfrm>
            <a:off x="2188800" y="2082700"/>
            <a:ext cx="45732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copying the pre-trained classifier weights on the already trained 26-classes, the model had a seeded the decision boundaries for the letters A–Z from the beginning.</a:t>
            </a:r>
            <a:endParaRPr/>
          </a:p>
        </p:txBody>
      </p:sp>
      <p:sp>
        <p:nvSpPr>
          <p:cNvPr id="643" name="Google Shape;643;p72"/>
          <p:cNvSpPr txBox="1">
            <a:spLocks noGrp="1"/>
          </p:cNvSpPr>
          <p:nvPr>
            <p:ph type="subTitle" idx="2"/>
          </p:nvPr>
        </p:nvSpPr>
        <p:spPr>
          <a:xfrm>
            <a:off x="2188800" y="3624975"/>
            <a:ext cx="4826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these classes have a low probability of overlapping with the letter clusters in the feature space, the classification head separated them easily</a:t>
            </a:r>
            <a:endParaRPr/>
          </a:p>
        </p:txBody>
      </p:sp>
      <p:sp>
        <p:nvSpPr>
          <p:cNvPr id="644" name="Google Shape;644;p72"/>
          <p:cNvSpPr txBox="1">
            <a:spLocks noGrp="1"/>
          </p:cNvSpPr>
          <p:nvPr>
            <p:ph type="subTitle" idx="3"/>
          </p:nvPr>
        </p:nvSpPr>
        <p:spPr>
          <a:xfrm>
            <a:off x="2188800" y="1702900"/>
            <a:ext cx="47664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Prevention of Catastrophic Forgetting</a:t>
            </a:r>
            <a:endParaRPr/>
          </a:p>
        </p:txBody>
      </p:sp>
      <p:sp>
        <p:nvSpPr>
          <p:cNvPr id="645" name="Google Shape;645;p72"/>
          <p:cNvSpPr txBox="1">
            <a:spLocks noGrp="1"/>
          </p:cNvSpPr>
          <p:nvPr>
            <p:ph type="subTitle" idx="4"/>
          </p:nvPr>
        </p:nvSpPr>
        <p:spPr>
          <a:xfrm>
            <a:off x="2188800" y="3245175"/>
            <a:ext cx="56232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Orthogonality of the New Classes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/>
              <a:t>Demo application</a:t>
            </a:r>
            <a:endParaRPr sz="6500"/>
          </a:p>
        </p:txBody>
      </p:sp>
      <p:sp>
        <p:nvSpPr>
          <p:cNvPr id="651" name="Google Shape;651;p73"/>
          <p:cNvSpPr txBox="1">
            <a:spLocks noGrp="1"/>
          </p:cNvSpPr>
          <p:nvPr>
            <p:ph type="title" idx="2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652" name="Google Shape;652;p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4"/>
          <p:cNvSpPr txBox="1">
            <a:spLocks noGrp="1"/>
          </p:cNvSpPr>
          <p:nvPr>
            <p:ph type="title"/>
          </p:nvPr>
        </p:nvSpPr>
        <p:spPr>
          <a:xfrm>
            <a:off x="587300" y="372243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the model into practice</a:t>
            </a:r>
            <a:endParaRPr/>
          </a:p>
        </p:txBody>
      </p:sp>
      <p:sp>
        <p:nvSpPr>
          <p:cNvPr id="658" name="Google Shape;658;p7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pic>
        <p:nvPicPr>
          <p:cNvPr id="659" name="Google Shape;659;p74" title="Grabación 2026-06-03 225518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0687" y="1267150"/>
            <a:ext cx="4850525" cy="36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75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8390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to try it yourself?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https://francolano.github.io/ASL-Recognition-DL/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65" name="Google Shape;665;p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pic>
        <p:nvPicPr>
          <p:cNvPr id="666" name="Google Shape;66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650" y="3042350"/>
            <a:ext cx="1806350" cy="180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3475" y="3138549"/>
            <a:ext cx="1806350" cy="1806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1563" y="3476173"/>
            <a:ext cx="3299325" cy="1372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75" title="url_qrcodecreator.com_16_03_4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5738" y="1984850"/>
            <a:ext cx="1372526" cy="1372526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9900" y="1975925"/>
            <a:ext cx="2815975" cy="1039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76"/>
          <p:cNvSpPr txBox="1">
            <a:spLocks noGrp="1"/>
          </p:cNvSpPr>
          <p:nvPr>
            <p:ph type="ctrTitle"/>
          </p:nvPr>
        </p:nvSpPr>
        <p:spPr>
          <a:xfrm>
            <a:off x="1321800" y="1945500"/>
            <a:ext cx="6500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2293</Words>
  <Application>Microsoft Office PowerPoint</Application>
  <PresentationFormat>Presentación en pantalla (16:9)</PresentationFormat>
  <Paragraphs>643</Paragraphs>
  <Slides>45</Slides>
  <Notes>45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50" baseType="lpstr">
      <vt:lpstr>Times New Roman</vt:lpstr>
      <vt:lpstr>Arial</vt:lpstr>
      <vt:lpstr>Albert Sans</vt:lpstr>
      <vt:lpstr>Alexandria Medium</vt:lpstr>
      <vt:lpstr>Lead Funnel by Slidesgo</vt:lpstr>
      <vt:lpstr>ASL Fingerspelling Recognition</vt:lpstr>
      <vt:lpstr>01</vt:lpstr>
      <vt:lpstr>Introduction</vt:lpstr>
      <vt:lpstr>American Sign Language (ASL) Fingerspelling</vt:lpstr>
      <vt:lpstr>Why is this topic relevant?</vt:lpstr>
      <vt:lpstr>We come from Computer Engineering so….</vt:lpstr>
      <vt:lpstr>Which models would work best?</vt:lpstr>
      <vt:lpstr>State of the Art</vt:lpstr>
      <vt:lpstr>A little bit of history…</vt:lpstr>
      <vt:lpstr>Current State of the Art</vt:lpstr>
      <vt:lpstr>Where is our project situated?</vt:lpstr>
      <vt:lpstr>Methodology</vt:lpstr>
      <vt:lpstr>Dataset Analysis &amp; Composition</vt:lpstr>
      <vt:lpstr>Data Augmentation Strategy</vt:lpstr>
      <vt:lpstr>Splitting Strategy &amp; Constraints</vt:lpstr>
      <vt:lpstr>Custom CNN Architecture</vt:lpstr>
      <vt:lpstr>Advanced Architectures</vt:lpstr>
      <vt:lpstr>Execution Workflow (Kaggle)</vt:lpstr>
      <vt:lpstr>Evaluation Design</vt:lpstr>
      <vt:lpstr>Phase 2: Transfer learning for 29-class Extension</vt:lpstr>
      <vt:lpstr>Experiments</vt:lpstr>
      <vt:lpstr>Comparative Architecture: Custom CNN</vt:lpstr>
      <vt:lpstr>Comparative Architecture: InceptionV3</vt:lpstr>
      <vt:lpstr>Comparative Architecture: MobileNetV2</vt:lpstr>
      <vt:lpstr>Hyperparameter Justification</vt:lpstr>
      <vt:lpstr>Hyperparameter Justification</vt:lpstr>
      <vt:lpstr>Fine tuning the Best Model</vt:lpstr>
      <vt:lpstr>Results  &amp; Discussion</vt:lpstr>
      <vt:lpstr>Loss &amp; Accuracy Curves: Training and Validation</vt:lpstr>
      <vt:lpstr>Presentación de PowerPoint</vt:lpstr>
      <vt:lpstr>Training Summary</vt:lpstr>
      <vt:lpstr>Confusion Matrices</vt:lpstr>
      <vt:lpstr>Per-class F1 Score</vt:lpstr>
      <vt:lpstr>Testing Metrics Summary</vt:lpstr>
      <vt:lpstr>Loss &amp; Accuracy Curves: 29-class Extension</vt:lpstr>
      <vt:lpstr>Testing Evaluation on 29-class MobilenetV2</vt:lpstr>
      <vt:lpstr>Letters being mixed up are similar.   </vt:lpstr>
      <vt:lpstr>Conclusions</vt:lpstr>
      <vt:lpstr>Part 1: Model Comparison</vt:lpstr>
      <vt:lpstr>Correlation between Trainable Parameters and Accuracy</vt:lpstr>
      <vt:lpstr>Part 2: Fine Tuning</vt:lpstr>
      <vt:lpstr>Demo application</vt:lpstr>
      <vt:lpstr>Putting the model into practice</vt:lpstr>
      <vt:lpstr>Want to try it yourself?  https://francolano.github.io/ASL-Recognition-DL/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Olano</cp:lastModifiedBy>
  <cp:revision>1</cp:revision>
  <dcterms:modified xsi:type="dcterms:W3CDTF">2026-06-08T15:02:00Z</dcterms:modified>
</cp:coreProperties>
</file>